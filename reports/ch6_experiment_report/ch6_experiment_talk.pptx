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4263E"/>
                </a:solidFill>
                <a:latin typeface="Microsoft YaHei"/>
              </a:rPr>
              <a:t>第六章数值实验报告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55648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007E76"/>
                </a:solidFill>
                <a:latin typeface="Microsoft YaHei"/>
              </a:rPr>
              <a:t>FFT 快速求解器与无预处理 GMRES 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331720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B6A7D"/>
                </a:solidFill>
                <a:latin typeface="Microsoft YaHei"/>
              </a:rPr>
              <a:t>收敛阶 · 边界处理 · 精度--成本 · Helmholtz 小分母机制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03320"/>
            <a:ext cx="4297680" cy="685800"/>
          </a:xfrm>
          <a:prstGeom prst="roundRect">
            <a:avLst/>
          </a:prstGeom>
          <a:solidFill>
            <a:srgbClr val="F4F7FB"/>
          </a:solidFill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/>
          <a:lstStyle/>
          <a:p>
            <a:pPr algn="ctr"/>
            <a:r>
              <a:rPr sz="2500" b="1">
                <a:solidFill>
                  <a:srgbClr val="14263E"/>
                </a:solidFill>
                <a:latin typeface="Microsoft YaHei"/>
              </a:rPr>
              <a:t>(-∇² + σ)u = 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3703320"/>
            <a:ext cx="4297680" cy="685800"/>
          </a:xfrm>
          <a:prstGeom prst="roundRect">
            <a:avLst/>
          </a:prstGeom>
          <a:solidFill>
            <a:srgbClr val="F4F7FB"/>
          </a:solidFill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/>
          <a:lstStyle/>
          <a:p>
            <a:pPr algn="ctr"/>
            <a:r>
              <a:rPr sz="2500" b="1">
                <a:solidFill>
                  <a:srgbClr val="14263E"/>
                </a:solidFill>
                <a:latin typeface="Microsoft YaHei"/>
              </a:rPr>
              <a:t>dₚ,q = λₚ,q + 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A7D"/>
                </a:solidFill>
                <a:latin typeface="Microsoft YaHei"/>
              </a:rPr>
              <a:t>答辩定位：只讲第六章实验设计、证据链和结论边界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开场先说明这不是全文理论推导，而是第六章实验报告。后面所有图都围绕统一方程和频域分母展开。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实验章主线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从离散格式到 near-resonance 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02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1874519"/>
            <a:ext cx="1024128" cy="1024128"/>
          </a:xfrm>
          <a:prstGeom prst="ellipse">
            <a:avLst/>
          </a:prstGeom>
          <a:solidFill>
            <a:srgbClr val="185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3081528"/>
            <a:ext cx="1691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4263E"/>
                </a:solidFill>
                <a:latin typeface="Microsoft YaHei"/>
              </a:rPr>
              <a:t>Dirichlet
收敛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65376" y="2267712"/>
            <a:ext cx="694944" cy="237744"/>
          </a:xfrm>
          <a:prstGeom prst="rightArrow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935224" y="1874519"/>
            <a:ext cx="1024128" cy="1024128"/>
          </a:xfrm>
          <a:prstGeom prst="ellipse">
            <a:avLst/>
          </a:prstGeom>
          <a:solidFill>
            <a:srgbClr val="185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5184" y="3081528"/>
            <a:ext cx="1691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4263E"/>
                </a:solidFill>
                <a:latin typeface="Microsoft YaHei"/>
              </a:rPr>
              <a:t>Neumann/mixed
边界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87368" y="2267712"/>
            <a:ext cx="694944" cy="237744"/>
          </a:xfrm>
          <a:prstGeom prst="rightArrow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57216" y="1874519"/>
            <a:ext cx="1024128" cy="1024128"/>
          </a:xfrm>
          <a:prstGeom prst="ellipse">
            <a:avLst/>
          </a:prstGeom>
          <a:solidFill>
            <a:srgbClr val="185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3081528"/>
            <a:ext cx="1691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4263E"/>
                </a:solidFill>
                <a:latin typeface="Microsoft YaHei"/>
              </a:rPr>
              <a:t>精度--成本
对比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309360" y="2267712"/>
            <a:ext cx="694944" cy="237744"/>
          </a:xfrm>
          <a:prstGeom prst="rightArrow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79208" y="1874519"/>
            <a:ext cx="1024128" cy="1024128"/>
          </a:xfrm>
          <a:prstGeom prst="ellipse">
            <a:avLst/>
          </a:prstGeom>
          <a:solidFill>
            <a:srgbClr val="0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3081528"/>
            <a:ext cx="1691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4263E"/>
                </a:solidFill>
                <a:latin typeface="Microsoft YaHei"/>
              </a:rPr>
              <a:t>Helmholtz 谱
与 GMRES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531352" y="2267712"/>
            <a:ext cx="694944" cy="237744"/>
          </a:xfrm>
          <a:prstGeom prst="rightArrow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0" y="1874519"/>
            <a:ext cx="1024128" cy="1024128"/>
          </a:xfrm>
          <a:prstGeom prst="ellipse">
            <a:avLst/>
          </a:prstGeom>
          <a:solidFill>
            <a:srgbClr val="0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081528"/>
            <a:ext cx="1691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4263E"/>
                </a:solidFill>
                <a:latin typeface="Microsoft YaHei"/>
              </a:rPr>
              <a:t>近共振
模态放大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43400"/>
            <a:ext cx="101498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26303F"/>
                </a:solidFill>
                <a:latin typeface="Microsoft YaHei"/>
              </a:rPr>
              <a:t>• 前两组实验确认离散格式和边界处理可靠</a:t>
            </a:r>
          </a:p>
          <a:p>
            <a:pPr>
              <a:spcAft>
                <a:spcPts val="500"/>
              </a:spcAft>
            </a:pPr>
            <a:r>
              <a:rPr sz="1800" b="0">
                <a:solidFill>
                  <a:srgbClr val="26303F"/>
                </a:solidFill>
                <a:latin typeface="Microsoft YaHei"/>
              </a:rPr>
              <a:t>• 第三组实验直接回应“FFT 与迭代法对比”</a:t>
            </a:r>
          </a:p>
          <a:p>
            <a:pPr>
              <a:spcAft>
                <a:spcPts val="500"/>
              </a:spcAft>
            </a:pPr>
            <a:r>
              <a:rPr sz="1800" b="0">
                <a:solidFill>
                  <a:srgbClr val="26303F"/>
                </a:solidFill>
                <a:latin typeface="Microsoft YaHei"/>
              </a:rPr>
              <a:t>• 后两组实验解释 true Helmholtz 小分母如何导致模态放大和 GMRES 停滞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要点：第六章形成“理论符号--实现路径--数值证据--机制解释”的闭环。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这一页给评委一个总地图。强调 exp00 是实现校验，不进入五个核心实验编号。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统一方程与频域分母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区分 Poisson、modified Helmholtz 与 true Helmholtz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333756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/>
          <a:lstStyle/>
          <a:p>
            <a:pPr algn="ctr"/>
            <a:r>
              <a:rPr sz="2100" b="1">
                <a:solidFill>
                  <a:srgbClr val="14263E"/>
                </a:solidFill>
                <a:latin typeface="Microsoft YaHei"/>
              </a:rPr>
              <a:t>Poisson: σ =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1508760"/>
            <a:ext cx="333756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/>
          <a:lstStyle/>
          <a:p>
            <a:pPr algn="ctr"/>
            <a:r>
              <a:rPr sz="2100" b="1">
                <a:solidFill>
                  <a:srgbClr val="14263E"/>
                </a:solidFill>
                <a:latin typeface="Microsoft YaHei"/>
              </a:rPr>
              <a:t>modified: σ = +κ²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5008" y="1508760"/>
            <a:ext cx="3337560" cy="640080"/>
          </a:xfrm>
          <a:prstGeom prst="roundRect">
            <a:avLst/>
          </a:prstGeom>
          <a:solidFill>
            <a:srgbClr val="F4F7FB"/>
          </a:solidFill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/>
          <a:lstStyle/>
          <a:p>
            <a:pPr algn="ctr"/>
            <a:r>
              <a:rPr sz="2100" b="1">
                <a:solidFill>
                  <a:srgbClr val="14263E"/>
                </a:solidFill>
                <a:latin typeface="Microsoft YaHei"/>
              </a:rPr>
              <a:t>true: σ = -κ²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10149840" cy="1627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900" b="0">
                <a:solidFill>
                  <a:srgbClr val="26303F"/>
                </a:solidFill>
                <a:latin typeface="Microsoft YaHei"/>
              </a:rPr>
              <a:t>• 矩形规则网格上，DST/DCT 使离散 Laplacian 在频域逐模态对角化</a:t>
            </a:r>
          </a:p>
          <a:p>
            <a:pPr>
              <a:spcAft>
                <a:spcPts val="500"/>
              </a:spcAft>
            </a:pPr>
            <a:r>
              <a:rPr sz="1900" b="0">
                <a:solidFill>
                  <a:srgbClr val="26303F"/>
                </a:solidFill>
                <a:latin typeface="Microsoft YaHei"/>
              </a:rPr>
              <a:t>• 每个模态的求解可以理解为 ûₚ,q = f̂ₚ,q / dₚ,q</a:t>
            </a:r>
          </a:p>
          <a:p>
            <a:pPr>
              <a:spcAft>
                <a:spcPts val="500"/>
              </a:spcAft>
            </a:pPr>
            <a:r>
              <a:rPr sz="1900" b="0">
                <a:solidFill>
                  <a:srgbClr val="26303F"/>
                </a:solidFill>
                <a:latin typeface="Microsoft YaHei"/>
              </a:rPr>
              <a:t>• true Helmholtz 中 dₚ,q = λₚ,q - κ²，可能接近 0</a:t>
            </a:r>
          </a:p>
          <a:p>
            <a:pPr>
              <a:spcAft>
                <a:spcPts val="500"/>
              </a:spcAft>
            </a:pPr>
            <a:r>
              <a:rPr sz="1900" b="0">
                <a:solidFill>
                  <a:srgbClr val="26303F"/>
                </a:solidFill>
                <a:latin typeface="Microsoft YaHei"/>
              </a:rPr>
              <a:t>• 小分母是解放大和无预处理 GMRES30 困难的共同原因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要点：Helmholtz 实验的核心变量不是图像颜色，而是 dₚ,q 距离 0 有多近。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把 modified 和 true 的区别说清楚：modified 分母全正，true 分母可能正负分裂并接近零。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exp00：实现校验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FFT solver vs sparse direct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332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表 5 比较 FFT 解与 sparse direct 解，误差约为 1.24e-14 量级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它只说明两条求解路径对齐到同一个离散线性系统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它不证明连续 PDE 精度，也不替代后续收敛阶实验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FFT9 与五点 sparse system 属于不同离散模板，不混入该校验表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920240" y="3840480"/>
          <a:ext cx="82296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486400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4263E"/>
                          </a:solidFill>
                          <a:latin typeface="Microsoft YaHei"/>
                        </a:rPr>
                        <a:t>定位</a:t>
                      </a:r>
                    </a:p>
                  </a:txBody>
                  <a:tcPr marL="45720" marR="45720" marT="27432" marB="27432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4263E"/>
                          </a:solidFill>
                          <a:latin typeface="Microsoft YaHei"/>
                        </a:rPr>
                        <a:t>回答的问题</a:t>
                      </a:r>
                    </a:p>
                  </a:txBody>
                  <a:tcPr marL="45720" marR="45720" marT="27432" marB="27432">
                    <a:solidFill>
                      <a:srgbClr val="E8EFF8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303F"/>
                          </a:solidFill>
                          <a:latin typeface="Microsoft YaHei"/>
                        </a:rPr>
                        <a:t>implementation validation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303F"/>
                          </a:solidFill>
                          <a:latin typeface="Microsoft YaHei"/>
                        </a:rPr>
                        <a:t>代码路径是否对齐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303F"/>
                          </a:solidFill>
                          <a:latin typeface="Microsoft YaHei"/>
                        </a:rPr>
                        <a:t>非核心实验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303F"/>
                          </a:solidFill>
                          <a:latin typeface="Microsoft YaHei"/>
                        </a:rPr>
                        <a:t>不回答连续误差阶数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303F"/>
                          </a:solidFill>
                          <a:latin typeface="Microsoft YaHei"/>
                        </a:rPr>
                        <a:t>后续实验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303F"/>
                          </a:solidFill>
                          <a:latin typeface="Microsoft YaHei"/>
                        </a:rPr>
                        <a:t>验证精度、成本和机制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要点：exp00 是可信实验链路的地基，不是主要科学贡献。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答辩时不要把 exp00 讲成精度结果。它只是排除实现路径错误。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实验一：Dirichlet 收敛目标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先确认格式阶数，再看边界子情形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2870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五点格式：FA / CR / FACR-like，理论二阶 O(h²)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FFT9：Dirichlet 九点紧致格式，理论四阶 O(h⁴)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polynomial manufactured solution 避免只依赖单一 Fourier 模态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非齐次 Dirichlet 子情形检查边界值移到右端项的符号和模板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3840480"/>
            <a:ext cx="9326880" cy="731520"/>
          </a:xfrm>
          <a:prstGeom prst="roundRect">
            <a:avLst/>
          </a:prstGeom>
          <a:solidFill>
            <a:srgbClr val="F4F7FB"/>
          </a:solidFill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/>
          <a:lstStyle/>
          <a:p>
            <a:pPr algn="ctr"/>
            <a:r>
              <a:rPr sz="2200" b="1">
                <a:solidFill>
                  <a:srgbClr val="14263E"/>
                </a:solidFill>
                <a:latin typeface="Microsoft YaHei"/>
              </a:rPr>
              <a:t>h → h/2:  二阶误差约 /4，四阶误差约 /16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要点：收敛图看斜率，不只看单个误差数字。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这一页先讲读图方法。单一 Fourier 模态只作为 sanity check，主要证据是 polynomial manufactured solution。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实验一：Dirichlet 收敛图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五点二阶与 FFT9 四阶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06</a:t>
            </a:r>
          </a:p>
        </p:txBody>
      </p:sp>
      <p:pic>
        <p:nvPicPr>
          <p:cNvPr id="6" name="Picture 5" descr="exp01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37040"/>
            <a:ext cx="10881360" cy="35393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1737040"/>
            <a:ext cx="10881360" cy="3539367"/>
          </a:xfrm>
          <a:prstGeom prst="rect">
            <a:avLst/>
          </a:prstGeom>
          <a:noFill/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要点：FA/CR/FACR-like 跟随二阶斜率，FFT9 跟随四阶斜率。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讲图时聚焦曲线斜率和参考线。不要把这张图扩展成所有边界条件下 FFT9 都四阶。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非齐次 Dirichlet 子情形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边界修正项的 visual sanity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07</a:t>
            </a:r>
          </a:p>
        </p:txBody>
      </p:sp>
      <p:pic>
        <p:nvPicPr>
          <p:cNvPr id="6" name="Picture 5" descr="exp02_temperature_fiel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872" y="1097280"/>
            <a:ext cx="5892351" cy="47731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152872" y="1097280"/>
            <a:ext cx="5892351" cy="4773168"/>
          </a:xfrm>
          <a:prstGeom prst="rect">
            <a:avLst/>
          </a:prstGeom>
          <a:noFill/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要点：边界值移至右端项的符号和模板处理正确；该图不是独立核心实验。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讲 exact、numerical、error 的对应关系。强调边界 sanity check 的定位，不重复讲二阶和四阶。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实验二：Neumann/mixed 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ghost-point、DCT-I 与 zero mode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2870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Neumann 给定法向导数，不是直接给函数值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ghost-point 会改变边界行结构，需要 DCT-I 对称化处理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Pure Neumann Poisson 存在常数零模态，需要 weighted mean 归一化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本实验不声明 FFT9 的 Neumann/mixed 四阶支持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3840480"/>
            <a:ext cx="9326880" cy="731520"/>
          </a:xfrm>
          <a:prstGeom prst="roundRect">
            <a:avLst/>
          </a:prstGeom>
          <a:solidFill>
            <a:srgbClr val="F4F7FB"/>
          </a:solidFill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/>
          <a:lstStyle/>
          <a:p>
            <a:pPr algn="ctr"/>
            <a:r>
              <a:rPr sz="2200" b="1">
                <a:solidFill>
                  <a:srgbClr val="14263E"/>
                </a:solidFill>
                <a:latin typeface="Microsoft YaHei"/>
              </a:rPr>
              <a:t>误差收敛 + 边界 residual + zero-mode 诊断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要点：实验二的价值是边界闭合，而不是重复五点二阶本身。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解释为什么 Neumann 更麻烦：导数边界、ghost point、零模态。这页为图 6 铺垫。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实验二：Neumann/mixed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误差、边界约束与零模态诊断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09</a:t>
            </a:r>
          </a:p>
        </p:txBody>
      </p:sp>
      <p:pic>
        <p:nvPicPr>
          <p:cNvPr id="6" name="Picture 5" descr="exp03_neumann_mixed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61417"/>
            <a:ext cx="10927080" cy="326318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861417"/>
            <a:ext cx="10927080" cy="3263181"/>
          </a:xfrm>
          <a:prstGeom prst="rect">
            <a:avLst/>
          </a:prstGeom>
          <a:noFill/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要点：误差收敛、边界残差和 weighted mean 诊断同时闭合。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按 panel (a)(b)(c) 顺序讲：收敛、边界 residual、zero-mode。说明 CR/FACR-like 完整结果在 CSV 中，图里只画 FA 避免冗余。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实验三：精度--成本对比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论文题目中“对比研究”的核心证据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102870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同一个 Dirichlet manufactured problem 下比较 error 与 solve time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FA/CR/FACR-like：五点二阶直接法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FFT9：Dirichlet 四阶直接法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GMRES30：无预处理重启 GMRES，误差含离散误差与代数残差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22191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85691"/>
                </a:solidFill>
                <a:latin typeface="Microsoft YaHei"/>
              </a:rPr>
              <a:t>Timing scope：direct solvers 为 solver call；GMRES 为 core solve，matrix/RHS setup excluded。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5B6A7D"/>
                </a:solidFill>
                <a:latin typeface="Microsoft YaHei"/>
              </a:rPr>
              <a:t>因此该图展示当前实现下的整体基准趋势，不是严格 kernel-to-kernel benchmark。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要点：这组实验直接回答：更快和更准能否同时实现。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主动说明 timing scope。GMRES setup 被排除，所以比较并没有刻意偏向 FFT 方法。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实验三：error-time 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越靠左下表示越快且越准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11</a:t>
            </a:r>
          </a:p>
        </p:txBody>
      </p:sp>
      <p:pic>
        <p:nvPicPr>
          <p:cNvPr id="6" name="Picture 5" descr="exp06_accuracy_cost_erro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75837"/>
            <a:ext cx="11018520" cy="40343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1475837"/>
            <a:ext cx="11018520" cy="4034340"/>
          </a:xfrm>
          <a:prstGeom prst="rect">
            <a:avLst/>
          </a:prstGeom>
          <a:noFill/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要点：横轴时间、纵轴误差，左下最优；FFT9 优势来自四阶 Dirichlet 离散，GMRES30 是无预处理五点基线。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先讲读图规则：横轴是 median solve time，纵轴是 L_infty error，都是 log scale，所以越靠左下越快且越准。左 panel 是 sigma=0 的 Poisson，右 panel 是 sigma=10 的 modified Helmholtz；这不是 true Helmholtz near-resonance 图。FA/CR/FACR-like 和 GMRES30 都对应五点二阶离散，GMRES30 即使代数残差很小，PDE 误差也受五点离散误差限制；FFT9 求解 Dirichlet 九点紧致四阶系统，不是同一个五点系统更准。timing scope 也要主动说：direct solvers 是 solver call，GMRES core solve 排除了 matrix/RHS setup，因此这不是严格 kernel benchmark，且口径上并未刻意偏向 FFT。结论限定为当前规则 Dirichlet 光滑问题和 unpreconditioned GMRES(30) 基线。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实验三：time scaling 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当前实现的规模增长趋势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12</a:t>
            </a:r>
          </a:p>
        </p:txBody>
      </p:sp>
      <p:pic>
        <p:nvPicPr>
          <p:cNvPr id="6" name="Picture 5" descr="exp06_time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63112"/>
            <a:ext cx="10881360" cy="42689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1363112"/>
            <a:ext cx="10881360" cy="4268935"/>
          </a:xfrm>
          <a:prstGeom prst="rect">
            <a:avLst/>
          </a:prstGeom>
          <a:noFill/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要点：FFT 直接法呈 O(N² log N) 趋势；FACR-like 当前实现不声称 O(N² log log N)。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讲清楚经典 FACR 与本文 FACR-like 实现的区别。不要把理论最优复杂度写成当前实现结果。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实验四：Helmholtz 的关键是分母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modified 稳定，true 可能穿过离散谱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417320"/>
            <a:ext cx="4114800" cy="658368"/>
          </a:xfrm>
          <a:prstGeom prst="roundRect">
            <a:avLst/>
          </a:prstGeom>
          <a:solidFill>
            <a:srgbClr val="F4F7FB"/>
          </a:solidFill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/>
          <a:lstStyle/>
          <a:p>
            <a:pPr algn="ctr"/>
            <a:r>
              <a:rPr sz="2500" b="1">
                <a:solidFill>
                  <a:srgbClr val="14263E"/>
                </a:solidFill>
                <a:latin typeface="Microsoft YaHei"/>
              </a:rPr>
              <a:t>dₚ,q = λₚ,q + 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4572000" cy="658368"/>
          </a:xfrm>
          <a:prstGeom prst="roundRect">
            <a:avLst/>
          </a:prstGeom>
          <a:solidFill>
            <a:srgbClr val="F4F7FB"/>
          </a:solidFill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/>
          <a:lstStyle/>
          <a:p>
            <a:pPr algn="ctr"/>
            <a:r>
              <a:rPr sz="2500" b="1">
                <a:solidFill>
                  <a:srgbClr val="14263E"/>
                </a:solidFill>
                <a:latin typeface="Microsoft YaHei"/>
              </a:rPr>
              <a:t>true: dₚ,q = λₚ,q - κ²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149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modified Helmholtz：σ=+κ²，分母全正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true-away：分母出现正负分裂，但最近模态仍离 0 不近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true-near：目标模态分母接近 0，触发小分母风险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后续 GMRES 行为与这一谱结构相对应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要点：实验四把 Helmholtz 类型差异转化为 dₚ,q 的可视化与残差证据。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这页连接理论和图 10。modified 与 true 的根本差别是 sigma 的符号使分母性质改变。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图 10：小分母风险图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低频 zoom risk map + sorted |d|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14</a:t>
            </a:r>
          </a:p>
        </p:txBody>
      </p:sp>
      <p:pic>
        <p:nvPicPr>
          <p:cNvPr id="6" name="Picture 5" descr="exp07_spectral_denominator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027" y="1005840"/>
            <a:ext cx="8990040" cy="4956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04027" y="1005840"/>
            <a:ext cx="8990040" cy="4956048"/>
          </a:xfrm>
          <a:prstGeom prst="rect">
            <a:avLst/>
          </a:prstGeom>
          <a:noFill/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要点：上排看热点位置，下排看数量级：modified≈10²，true-away≈10¹，true-near 的 (2,3)/(3,2) 降至 10⁻²。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这页是 Helmholtz 实验的谱结构地基。图中画的是 R=-log10|d|，不是解、误差或条件数；R&lt;0 只表示 |d|&gt;1、分母大、风险低。上排低频窗口告诉我们小分母热点在哪里，下排 sorted |d| 直接比较数量级：modified 的最小分母约 1.197e2，true-away 约 1.480e1，说明 sign-changing 但还不是 near-resonance；true-near 的前两个最小分母降到 1.000e-2，并且对应 (2,3)/(3,2)。这两个点并列是因为 lambda_23^h=lambda_32^h，说明危险集中在目标简并模态，而不是整个频域都危险。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Condition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spectral denominator indicator 与 cond₂(A)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15</a:t>
            </a:r>
          </a:p>
        </p:txBody>
      </p:sp>
      <p:pic>
        <p:nvPicPr>
          <p:cNvPr id="6" name="Picture 5" descr="exp04_condition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909" y="1143000"/>
            <a:ext cx="5594268" cy="46817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69909" y="1143000"/>
            <a:ext cx="5594268" cy="4681728"/>
          </a:xfrm>
          <a:prstGeom prst="rect">
            <a:avLst/>
          </a:prstGeom>
          <a:noFill/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要点：Dirichlet 五点系统中，正交 DST-I 对角化使谱分母指标与 cond₂(A) 一致。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讲清这是当前 Dirichlet 五点系统的数值校验。不要外推到 Neumann 原始矩阵、mixed 边界或一般 non-normal 系统。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GMRES residual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比最终迭代数更能说明停滞过程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16</a:t>
            </a:r>
          </a:p>
        </p:txBody>
      </p:sp>
      <p:pic>
        <p:nvPicPr>
          <p:cNvPr id="6" name="Picture 5" descr="exp04_gmres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4500"/>
            <a:ext cx="10927080" cy="425530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374500"/>
            <a:ext cx="10927080" cy="4255303"/>
          </a:xfrm>
          <a:prstGeom prst="rect">
            <a:avLst/>
          </a:prstGeom>
          <a:noFill/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要点：absolute residual 是停止准则，relative residual 只用于归一化比较。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强调 residual history 的价值：它显示残差是否真的达到 tol，还是到上限仍停滞。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实验五：near-resonance 理论公式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从小分母到目标模态放大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5303520" cy="713232"/>
          </a:xfrm>
          <a:prstGeom prst="roundRect">
            <a:avLst/>
          </a:prstGeom>
          <a:solidFill>
            <a:srgbClr val="F4F7FB"/>
          </a:solidFill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/>
          <a:lstStyle/>
          <a:p>
            <a:pPr algn="ctr"/>
            <a:r>
              <a:rPr sz="2300" b="1">
                <a:solidFill>
                  <a:srgbClr val="14263E"/>
                </a:solidFill>
                <a:latin typeface="Microsoft YaHei"/>
              </a:rPr>
              <a:t>ûₚ,q = f̂ₚ,q / (λₚ,q - κ²)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325880"/>
            <a:ext cx="4480560" cy="713232"/>
          </a:xfrm>
          <a:prstGeom prst="roundRect">
            <a:avLst/>
          </a:prstGeom>
          <a:solidFill>
            <a:srgbClr val="F4F7FB"/>
          </a:solidFill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/>
          <a:lstStyle/>
          <a:p>
            <a:pPr algn="ctr"/>
            <a:r>
              <a:rPr sz="2300" b="1">
                <a:solidFill>
                  <a:srgbClr val="14263E"/>
                </a:solidFill>
                <a:latin typeface="Microsoft YaHei"/>
              </a:rPr>
              <a:t>κ² = λ_target + 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423160"/>
            <a:ext cx="8412480" cy="713232"/>
          </a:xfrm>
          <a:prstGeom prst="roundRect">
            <a:avLst/>
          </a:prstGeom>
          <a:solidFill>
            <a:srgbClr val="F4F7FB"/>
          </a:solidFill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/>
          <a:lstStyle/>
          <a:p>
            <a:pPr algn="ctr"/>
            <a:r>
              <a:rPr sz="2400" b="1">
                <a:solidFill>
                  <a:srgbClr val="14263E"/>
                </a:solidFill>
                <a:latin typeface="Microsoft YaHei"/>
              </a:rPr>
              <a:t>|û_target| ≈ |f̂_target| / |δ|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900" b="0">
                <a:solidFill>
                  <a:srgbClr val="26303F"/>
                </a:solidFill>
                <a:latin typeface="Microsoft YaHei"/>
              </a:rPr>
              <a:t>• RHS 使用 off-center Gaussian，避免纯 eigenfunction 的特殊收敛行为</a:t>
            </a:r>
          </a:p>
          <a:p>
            <a:pPr>
              <a:spcAft>
                <a:spcPts val="500"/>
              </a:spcAft>
            </a:pPr>
            <a:r>
              <a:rPr sz="1900" b="0">
                <a:solidFill>
                  <a:srgbClr val="26303F"/>
                </a:solidFill>
                <a:latin typeface="Microsoft YaHei"/>
              </a:rPr>
              <a:t>• target sets 包括 (1,1)、(2,3)/(3,2)、(3,3)</a:t>
            </a:r>
          </a:p>
          <a:p>
            <a:pPr>
              <a:spcAft>
                <a:spcPts val="500"/>
              </a:spcAft>
            </a:pPr>
            <a:r>
              <a:rPr sz="1900" b="0">
                <a:solidFill>
                  <a:srgbClr val="26303F"/>
                </a:solidFill>
                <a:latin typeface="Microsoft YaHei"/>
              </a:rPr>
              <a:t>• 结论限定于当前 Dirichlet 五点离散谱和无预处理 GMRES30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要点：实验五把“小分母”变成可量化的模态投影公式。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这页是实验五的理论中心。一定讲出目标模态分母等于 -delta，因此幅值按 1/|delta| 放大。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Baseline near-resonance 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同一模态对下的 detuning 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18</a:t>
            </a:r>
          </a:p>
        </p:txBody>
      </p:sp>
      <p:pic>
        <p:nvPicPr>
          <p:cNvPr id="6" name="Picture 5" descr="exp05_near_resonanc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201" y="1078992"/>
            <a:ext cx="6518837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844201" y="1078992"/>
            <a:ext cx="6518837" cy="4846320"/>
          </a:xfrm>
          <a:prstGeom prst="rect">
            <a:avLst/>
          </a:prstGeom>
          <a:noFill/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要点：panel (a) 验证 1/|delta| 放大；raw fields 显示 max |u| 约 0.56→564；GMRES 未达到绝对残差容差。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这张图按四块讲：panel (a) 是核心，|u_hat_(2,3)| 与 C/|delta| 参考线一致，说明目标模态按小分母公式放大；panel (b) 画的是 final absolute residual，红叉表示 capped/not converged，停止准则是绝对残差容差。panel (c)(d) 是同一模态对 (2,3)/(3,2) 下 delta=1e-1 和 1e-4 的 raw fields，二者使用独立 colorbar，所以颜色不能直接比较；要看标题中的 max |u|，大约从 0.56 放大到 564，约 1000 倍。结论只限当前 Dirichlet 五点离散、当前 RHS 和无预处理 GMRES(30)，不外推到预处理 Krylov 方法。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Multimode resonance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1/|delta| 放大与 GMRES capped 汇总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19</a:t>
            </a:r>
          </a:p>
        </p:txBody>
      </p:sp>
      <p:pic>
        <p:nvPicPr>
          <p:cNvPr id="6" name="Picture 5" descr="exp05_multimode_resonanc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341" y="1024128"/>
            <a:ext cx="6872269" cy="49194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658341" y="1024128"/>
            <a:ext cx="6872269" cy="4919472"/>
          </a:xfrm>
          <a:prstGeom prst="rect">
            <a:avLst/>
          </a:prstGeom>
          <a:noFill/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要点：near-resonance 不是单一例子：简并对系数按 1/|delta| 放大，三类目标的能量/形状指标接近 1，GMRES30 全部 capped。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这页用于说明 near-resonance 机制不是只对 (2,3)/(3,2) 一个例子成立。当前图的 panel (a) 专门展开简并对内部两个系数 |u_hat_(2,3)| 和 |u_hat_(3,2)|；二者高度可以不同，因为 Gaussian RHS 在两个模态上的投影不同，但斜率都符合 1/|delta|。panel (b) 是 target subspace energy fraction，panel (c) 是 full solution 与 dominant projection 的 shape correlation；它们接近 1 不是没有信息，而是说明在当前 detuning 区间内目标子空间支配性已经建立。panel (d) 只汇总 capped=1001 的终点状态，停滞过程要接下一张 residual history；结论仍限定为当前 Dirichlet 五点离散、当前 RHS 和 unpreconditioned GMRES(30)。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Dominant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从频域结论回到物理空间解场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20</a:t>
            </a:r>
          </a:p>
        </p:txBody>
      </p:sp>
      <p:pic>
        <p:nvPicPr>
          <p:cNvPr id="6" name="Picture 5" descr="exp05_dominant_mode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191370"/>
            <a:ext cx="8275320" cy="26398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" y="2191370"/>
            <a:ext cx="8275320" cy="2639850"/>
          </a:xfrm>
          <a:prstGeom prst="rect">
            <a:avLst/>
          </a:prstGeom>
          <a:noFill/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98280" y="1188720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4263E"/>
                </a:solidFill>
                <a:latin typeface="Microsoft YaHei"/>
              </a:rPr>
              <a:t>量级读法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1572768"/>
            <a:ext cx="251460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26303F"/>
                </a:solidFill>
                <a:latin typeface="Microsoft YaHei"/>
              </a:rPr>
              <a:t>• full max ≈ 6.81×10¹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26303F"/>
                </a:solidFill>
                <a:latin typeface="Microsoft YaHei"/>
              </a:rPr>
              <a:t>• projection max ≈ 6.81×10¹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26303F"/>
                </a:solidFill>
                <a:latin typeface="Microsoft YaHei"/>
              </a:rPr>
              <a:t>• difference max ≈ 6.89×10⁻⁴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26303F"/>
                </a:solidFill>
                <a:latin typeface="Microsoft YaHei"/>
              </a:rPr>
              <a:t>• 相对量级 ≈ 1×10⁻⁵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3401568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9E5B00"/>
                </a:solidFill>
                <a:latin typeface="Microsoft YaHei"/>
              </a:rPr>
              <a:t>右图使用独立色标：颜色明显不代表差值大，要看 max |u| 数量级。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4498848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5B6A7D"/>
                </a:solidFill>
                <a:latin typeface="Microsoft YaHei"/>
              </a:rPr>
              <a:t>差值来自非目标模态的有限贡献，不是 projection 失败。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要点：完整解与目标模态投影只差约 10⁻⁵ 相对量级，near-resonance 解场由 (2,3)/(3,2) 主导。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这一页要讲清楚：左图是完整解，中图是只保留 (2,3)/(3,2) 后反变换得到的 dominant projection，右图是差值。full 和 projection 最大幅值都是约 6.81e1，difference 只有约 6.89e-4，差了五个数量级。右图颜色明显是因为用了独立色标，不代表误差大；差值不是机器零，因为 Gaussian RHS 对非目标模态也有小投影。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Resonance GMRES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capped 结果背后的残差过程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21</a:t>
            </a:r>
          </a:p>
        </p:txBody>
      </p:sp>
      <p:pic>
        <p:nvPicPr>
          <p:cNvPr id="6" name="Picture 5" descr="exp05_resonance_gmres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3912"/>
            <a:ext cx="10927080" cy="425647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373912"/>
            <a:ext cx="10927080" cy="4256478"/>
          </a:xfrm>
          <a:prstGeom prst="rect">
            <a:avLst/>
          </a:prstGeom>
          <a:noFill/>
          <a:ln>
            <a:solidFill>
              <a:srgbClr val="D4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要点：not converged 不是单一标签：曲线先有限下降后平台，末端约 1.8e-1，仍远高于 1e-10；capped=1001 表示达到迭代上限。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这一页按四步讲。第一，左图是 absolute residual，它对应真正的停止准则 1e-10；右图是 relative residual，只用于归一化比较。第二，三条曲线并不是一开始完全失败，而是先有限下降，然后进入平台，末端约 1.8e-1，远高于容差。第三，红叉和 capped=1001 表示 max_iter=1000 后仍未满足绝对残差容差，不是第 1001 步成功收敛。第四，结论限定在当前 Dirichlet 五点离散、目标模态 (2,3)/(3,2)、当前 RHS 和 unpreconditioned GMRES(30)，不能外推到预处理 GMRES、MINRES 或 shifted Laplacian。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五个实验对应五个结论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第六章的证据链收束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43584"/>
          <a:ext cx="1106424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886200"/>
                <a:gridCol w="5212080"/>
              </a:tblGrid>
              <a:tr h="71932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4263E"/>
                          </a:solidFill>
                          <a:latin typeface="Microsoft YaHei"/>
                        </a:rPr>
                        <a:t>实验</a:t>
                      </a:r>
                    </a:p>
                  </a:txBody>
                  <a:tcPr marL="45720" marR="45720" marT="27432" marB="27432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4263E"/>
                          </a:solidFill>
                          <a:latin typeface="Microsoft YaHei"/>
                        </a:rPr>
                        <a:t>回答的问题</a:t>
                      </a:r>
                    </a:p>
                  </a:txBody>
                  <a:tcPr marL="45720" marR="45720" marT="27432" marB="27432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4263E"/>
                          </a:solidFill>
                          <a:latin typeface="Microsoft YaHei"/>
                        </a:rPr>
                        <a:t>核心结论</a:t>
                      </a:r>
                    </a:p>
                  </a:txBody>
                  <a:tcPr marL="45720" marR="45720" marT="27432" marB="27432">
                    <a:solidFill>
                      <a:srgbClr val="E8EFF8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303F"/>
                          </a:solidFill>
                          <a:latin typeface="Microsoft YaHei"/>
                        </a:rPr>
                        <a:t>Dirichlet 收敛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303F"/>
                          </a:solidFill>
                          <a:latin typeface="Microsoft YaHei"/>
                        </a:rPr>
                        <a:t>格式阶数是否达标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303F"/>
                          </a:solidFill>
                          <a:latin typeface="Microsoft YaHei"/>
                        </a:rPr>
                        <a:t>五点二阶，FFT9 四阶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303F"/>
                          </a:solidFill>
                          <a:latin typeface="Microsoft YaHei"/>
                        </a:rPr>
                        <a:t>Neumann/mixed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303F"/>
                          </a:solidFill>
                          <a:latin typeface="Microsoft YaHei"/>
                        </a:rPr>
                        <a:t>边界与零模态是否闭合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303F"/>
                          </a:solidFill>
                          <a:latin typeface="Microsoft YaHei"/>
                        </a:rPr>
                        <a:t>residual 与 weighted mean 诊断闭合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303F"/>
                          </a:solidFill>
                          <a:latin typeface="Microsoft YaHei"/>
                        </a:rPr>
                        <a:t>精度--成本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303F"/>
                          </a:solidFill>
                          <a:latin typeface="Microsoft YaHei"/>
                        </a:rPr>
                        <a:t>FFT 与 GMRES 如何比较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303F"/>
                          </a:solidFill>
                          <a:latin typeface="Microsoft YaHei"/>
                        </a:rPr>
                        <a:t>FFT9 在光滑 Dirichlet 下精度--时间更优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303F"/>
                          </a:solidFill>
                          <a:latin typeface="Microsoft YaHei"/>
                        </a:rPr>
                        <a:t>谱结构+GMRES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303F"/>
                          </a:solidFill>
                          <a:latin typeface="Microsoft YaHei"/>
                        </a:rPr>
                        <a:t>true Helmholtz 为什么难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303F"/>
                          </a:solidFill>
                          <a:latin typeface="Microsoft YaHei"/>
                        </a:rPr>
                        <a:t>小分母与残差停滞对应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303F"/>
                          </a:solidFill>
                          <a:latin typeface="Microsoft YaHei"/>
                        </a:rPr>
                        <a:t>near-resonance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303F"/>
                          </a:solidFill>
                          <a:latin typeface="Microsoft YaHei"/>
                        </a:rPr>
                        <a:t>具体哪个模态被放大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303F"/>
                          </a:solidFill>
                          <a:latin typeface="Microsoft YaHei"/>
                        </a:rPr>
                        <a:t>目标模态遵循 1/|delta| 放大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要点：五个实验不是孤立结果，而是从格式验证走向机制解释。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总结页不要展开太久。每行一句，突出五个实验的分工。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结论边界与限制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主动说明，避免过度声称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28700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GMRES 是无预处理 GMRES30，不代表所有预处理 Krylov 方法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FFT9 仅在 Dirichlet 边界实现和验证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FACR-like 当前实现仍按 O(N² log N) 处理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timing 图不是严格 kernel-to-kernel benchmark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26303F"/>
                </a:solidFill>
                <a:latin typeface="Microsoft YaHei"/>
              </a:rPr>
              <a:t>• near-resonance 是离散谱实验；condition check 不外推到 non-normal 系统；exp04/exp05 capped 计数约定不同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要点：限制越清楚，实验结论越可信。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答辩时主动讲限制是加分项。不要说 GMRES 不适合 Helmholtz，也不要说 FFT9 支持 Neumann/mixed。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63E"/>
                </a:solidFill>
                <a:latin typeface="Microsoft YaHei"/>
              </a:rPr>
              <a:t>答辩口径：常见问题与短答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A7D"/>
                </a:solidFill>
                <a:latin typeface="Microsoft YaHei"/>
              </a:rPr>
              <a:t>限定条件 + 证据来源 + 不外推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11064240" cy="16459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56848" y="64556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A7D"/>
                </a:solidFill>
                <a:latin typeface="Microsoft YaHei"/>
              </a:rPr>
              <a:t>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170432"/>
          <a:ext cx="1106424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1960"/>
                <a:gridCol w="6812280"/>
              </a:tblGrid>
              <a:tr h="659674">
                <a:tc>
                  <a:txBody>
                    <a:bodyPr/>
                    <a:lstStyle/>
                    <a:p>
                      <a:pPr algn="ctr"/>
                      <a:r>
                        <a:rPr sz="1070" b="1">
                          <a:solidFill>
                            <a:srgbClr val="14263E"/>
                          </a:solidFill>
                          <a:latin typeface="Microsoft YaHei"/>
                        </a:rPr>
                        <a:t>问题</a:t>
                      </a:r>
                    </a:p>
                  </a:txBody>
                  <a:tcPr marL="45720" marR="45720" marT="27432" marB="27432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70" b="1">
                          <a:solidFill>
                            <a:srgbClr val="14263E"/>
                          </a:solidFill>
                          <a:latin typeface="Microsoft YaHei"/>
                        </a:rPr>
                        <a:t>短答</a:t>
                      </a:r>
                    </a:p>
                  </a:txBody>
                  <a:tcPr marL="45720" marR="45720" marT="27432" marB="27432">
                    <a:solidFill>
                      <a:srgbClr val="E8EFF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6303F"/>
                          </a:solidFill>
                          <a:latin typeface="Microsoft YaHei"/>
                        </a:rPr>
                        <a:t>exp00 为什么不算核心实验？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6303F"/>
                          </a:solidFill>
                          <a:latin typeface="Microsoft YaHei"/>
                        </a:rPr>
                        <a:t>只验证同一离散系统的求解路径一致。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6303F"/>
                          </a:solidFill>
                          <a:latin typeface="Microsoft YaHei"/>
                        </a:rPr>
                        <a:t>FFT9 优势来自哪里？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6303F"/>
                          </a:solidFill>
                          <a:latin typeface="Microsoft YaHei"/>
                        </a:rPr>
                        <a:t>Dirichlet 四阶离散误差，而非迭代残差。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6303F"/>
                          </a:solidFill>
                          <a:latin typeface="Microsoft YaHei"/>
                        </a:rPr>
                        <a:t>GMRES 结论能外推吗？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6303F"/>
                          </a:solidFill>
                          <a:latin typeface="Microsoft YaHei"/>
                        </a:rPr>
                        <a:t>不能；这里只是无预处理 GMRES30 基准。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6303F"/>
                          </a:solidFill>
                          <a:latin typeface="Microsoft YaHei"/>
                        </a:rPr>
                        <a:t>risk map 是条件数图吗？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6303F"/>
                          </a:solidFill>
                          <a:latin typeface="Microsoft YaHei"/>
                        </a:rPr>
                        <a:t>不是；它只可视化 small-denominator risk。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6303F"/>
                          </a:solidFill>
                          <a:latin typeface="Microsoft YaHei"/>
                        </a:rPr>
                        <a:t>图 16(b)(c) 为什么近似平线？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6303F"/>
                          </a:solidFill>
                          <a:latin typeface="Microsoft YaHei"/>
                        </a:rPr>
                        <a:t>值已接近 1，说明目标模态支配了解。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59676"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6303F"/>
                          </a:solidFill>
                          <a:latin typeface="Microsoft YaHei"/>
                        </a:rPr>
                        <a:t>GMRES 计时是否偏向 FFT？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0">
                          <a:solidFill>
                            <a:srgbClr val="26303F"/>
                          </a:solidFill>
                          <a:latin typeface="Microsoft YaHei"/>
                        </a:rPr>
                        <a:t>GMRES setup 被排除，计时更宽容；FFT 仍占优。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8368" y="6007608"/>
            <a:ext cx="10835640" cy="12801"/>
          </a:xfrm>
          <a:prstGeom prst="rect">
            <a:avLst/>
          </a:prstGeom>
          <a:solidFill>
            <a:srgbClr val="D4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099048"/>
            <a:ext cx="10835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7E76"/>
                </a:solidFill>
                <a:latin typeface="Microsoft YaHei"/>
              </a:rPr>
              <a:t>要点：答辩时围绕“问题--证据--限制”回答。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7086600"/>
            <a:ext cx="11521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787878"/>
                </a:solidFill>
                <a:latin typeface="Microsoft YaHei"/>
              </a:rPr>
              <a:t>SPEAKER_NOTES: 最后一页作为 Q&amp;A 备忘。回答要短，不要自发扩展到预处理方法、连续谱极限或未实现边界。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